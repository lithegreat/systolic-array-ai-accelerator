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0279975" cy="42808525"/>
  <p:notesSz cx="6797675" cy="9928225"/>
  <p:embeddedFontLst>
    <p:embeddedFont>
      <p:font typeface="DejaVu Sans" panose="02010600030101010101" charset="0"/>
      <p:regular r:id="rId4"/>
      <p:bold r:id="rId5"/>
      <p:italic r:id="rId6"/>
      <p:boldItalic r:id="rId7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26" autoAdjust="0"/>
  </p:normalViewPr>
  <p:slideViewPr>
    <p:cSldViewPr snapToGrid="0">
      <p:cViewPr>
        <p:scale>
          <a:sx n="50" d="100"/>
          <a:sy n="50" d="100"/>
        </p:scale>
        <p:origin x="1464" y="-27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de-DE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de-DE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de-DE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de-DE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FF88C3F1-08E4-4EE6-8A80-3823B61E0382}" type="slidenum">
              <a:rPr lang="de-DE" sz="1400" b="0" strike="noStrike" spc="-1">
                <a:latin typeface="Times New Roman"/>
              </a:rPr>
              <a:t>‹#›</a:t>
            </a:fld>
            <a:endParaRPr lang="de-DE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body"/>
          </p:nvPr>
        </p:nvSpPr>
        <p:spPr>
          <a:xfrm>
            <a:off x="679320" y="4716720"/>
            <a:ext cx="5438160" cy="44668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de-DE" sz="2000" b="0" strike="noStrike" spc="-1" dirty="0">
              <a:latin typeface="Arial"/>
            </a:endParaRPr>
          </a:p>
        </p:txBody>
      </p:sp>
      <p:sp>
        <p:nvSpPr>
          <p:cNvPr id="182" name="CustomShape 2"/>
          <p:cNvSpPr/>
          <p:nvPr/>
        </p:nvSpPr>
        <p:spPr>
          <a:xfrm>
            <a:off x="3849840" y="9430200"/>
            <a:ext cx="2945520" cy="495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FD6CF086-F4AC-45A3-BA9C-547C94BC04F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de-DE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13800" y="1707840"/>
            <a:ext cx="27251280" cy="7148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513800" y="10017000"/>
            <a:ext cx="27251280" cy="24828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13800" y="1707840"/>
            <a:ext cx="27251280" cy="7148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513800" y="10017000"/>
            <a:ext cx="27251280" cy="24828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13800" y="1707840"/>
            <a:ext cx="27251280" cy="7148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513800" y="10017000"/>
            <a:ext cx="13298400" cy="24828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5477480" y="10017000"/>
            <a:ext cx="13298400" cy="24828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13800" y="1707840"/>
            <a:ext cx="27251280" cy="7148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513800" y="1707840"/>
            <a:ext cx="27251280" cy="33137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13800" y="1707840"/>
            <a:ext cx="27251280" cy="7148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513800" y="10017000"/>
            <a:ext cx="1329840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5477480" y="10017000"/>
            <a:ext cx="13298400" cy="24828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513800" y="22985280"/>
            <a:ext cx="1329840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13800" y="1707840"/>
            <a:ext cx="27251280" cy="7148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513800" y="10017000"/>
            <a:ext cx="13298400" cy="24828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5477480" y="10017000"/>
            <a:ext cx="1329840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5477480" y="22985280"/>
            <a:ext cx="1329840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13800" y="1707840"/>
            <a:ext cx="27251280" cy="7148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513800" y="10017000"/>
            <a:ext cx="1329840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5477480" y="10017000"/>
            <a:ext cx="1329840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513800" y="22985280"/>
            <a:ext cx="2725128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13800" y="1707840"/>
            <a:ext cx="27251280" cy="7148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513800" y="10017000"/>
            <a:ext cx="2725128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513800" y="22985280"/>
            <a:ext cx="2725128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13800" y="1707840"/>
            <a:ext cx="27251280" cy="7148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513800" y="10017000"/>
            <a:ext cx="1329840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5477480" y="10017000"/>
            <a:ext cx="1329840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513800" y="22985280"/>
            <a:ext cx="1329840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5477480" y="22985280"/>
            <a:ext cx="1329840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13800" y="1707840"/>
            <a:ext cx="27251280" cy="7148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513800" y="10017000"/>
            <a:ext cx="877464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0727640" y="10017000"/>
            <a:ext cx="877464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9941480" y="10017000"/>
            <a:ext cx="877464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513800" y="22985280"/>
            <a:ext cx="877464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0727640" y="22985280"/>
            <a:ext cx="877464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9941480" y="22985280"/>
            <a:ext cx="8774640" cy="11842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13800" y="1707840"/>
            <a:ext cx="27251280" cy="7148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513800" y="10017000"/>
            <a:ext cx="27251280" cy="24828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tif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fik 17"/>
          <p:cNvPicPr/>
          <p:nvPr/>
        </p:nvPicPr>
        <p:blipFill>
          <a:blip r:embed="rId3"/>
          <a:stretch/>
        </p:blipFill>
        <p:spPr>
          <a:xfrm>
            <a:off x="25437240" y="1098000"/>
            <a:ext cx="3387600" cy="1799280"/>
          </a:xfrm>
          <a:prstGeom prst="rect">
            <a:avLst/>
          </a:prstGeom>
          <a:ln>
            <a:noFill/>
          </a:ln>
        </p:spPr>
      </p:pic>
      <p:sp>
        <p:nvSpPr>
          <p:cNvPr id="52" name="CustomShape 8"/>
          <p:cNvSpPr/>
          <p:nvPr/>
        </p:nvSpPr>
        <p:spPr>
          <a:xfrm>
            <a:off x="-1" y="851400"/>
            <a:ext cx="30279975" cy="47576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9600" b="1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Systolic-Array AI Accelerator</a:t>
            </a:r>
          </a:p>
          <a:p>
            <a:pPr algn="ctr">
              <a:spcAft>
                <a:spcPts val="600"/>
              </a:spcAft>
            </a:pPr>
            <a:r>
              <a:rPr lang="en-US" sz="4400" b="1" spc="-1" dirty="0">
                <a:solidFill>
                  <a:schemeClr val="bg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Hardware-Software Co-Design for the Edu4Chip Didactic SoC</a:t>
            </a:r>
          </a:p>
          <a:p>
            <a:pPr algn="ctr">
              <a:spcAft>
                <a:spcPts val="600"/>
              </a:spcAft>
            </a:pPr>
            <a:r>
              <a:rPr lang="en-US" sz="4100" b="0" strike="noStrike" spc="-1" dirty="0">
                <a:solidFill>
                  <a:srgbClr val="000000"/>
                </a:solidFill>
                <a:ea typeface="DejaVu Sans"/>
              </a:rPr>
              <a:t>Chair of AI Processor Design</a:t>
            </a:r>
          </a:p>
          <a:p>
            <a:pPr algn="ctr">
              <a:spcAft>
                <a:spcPts val="600"/>
              </a:spcAft>
            </a:pPr>
            <a:r>
              <a:rPr lang="en-US" sz="4100" spc="-1" dirty="0">
                <a:solidFill>
                  <a:srgbClr val="000000"/>
                </a:solidFill>
              </a:rPr>
              <a:t>Technical University of Munich, Germany</a:t>
            </a:r>
          </a:p>
          <a:p>
            <a:pPr algn="ctr">
              <a:spcAft>
                <a:spcPts val="600"/>
              </a:spcAft>
            </a:pPr>
            <a:r>
              <a:rPr lang="en-US" altLang="zh-CN" sz="4100" spc="-1" dirty="0" err="1">
                <a:solidFill>
                  <a:srgbClr val="000000"/>
                </a:solidFill>
              </a:rPr>
              <a:t>Hengsheng</a:t>
            </a:r>
            <a:r>
              <a:rPr lang="en-US" altLang="zh-CN" sz="4100" spc="-1" dirty="0">
                <a:solidFill>
                  <a:srgbClr val="000000"/>
                </a:solidFill>
              </a:rPr>
              <a:t> Li*,</a:t>
            </a:r>
            <a:r>
              <a:rPr lang="zh-CN" altLang="en-US" sz="4100" spc="-1" dirty="0">
                <a:solidFill>
                  <a:srgbClr val="000000"/>
                </a:solidFill>
              </a:rPr>
              <a:t> </a:t>
            </a:r>
            <a:r>
              <a:rPr lang="en-US" altLang="zh-CN" sz="4100" spc="-1" dirty="0">
                <a:solidFill>
                  <a:srgbClr val="000000"/>
                </a:solidFill>
              </a:rPr>
              <a:t>Yuzhi</a:t>
            </a:r>
            <a:r>
              <a:rPr lang="zh-CN" altLang="en-US" sz="4100" spc="-1" dirty="0">
                <a:solidFill>
                  <a:srgbClr val="000000"/>
                </a:solidFill>
              </a:rPr>
              <a:t> </a:t>
            </a:r>
            <a:r>
              <a:rPr lang="en-US" altLang="zh-CN" sz="4100" spc="-1" dirty="0">
                <a:solidFill>
                  <a:srgbClr val="000000"/>
                </a:solidFill>
              </a:rPr>
              <a:t>Cao, </a:t>
            </a:r>
            <a:r>
              <a:rPr lang="en-US" altLang="zh-CN" sz="4100" spc="-1" dirty="0" err="1">
                <a:solidFill>
                  <a:srgbClr val="000000"/>
                </a:solidFill>
              </a:rPr>
              <a:t>Siyang</a:t>
            </a:r>
            <a:r>
              <a:rPr lang="en-US" altLang="zh-CN" sz="4100" spc="-1" dirty="0">
                <a:solidFill>
                  <a:srgbClr val="000000"/>
                </a:solidFill>
              </a:rPr>
              <a:t> Liu,</a:t>
            </a:r>
            <a:r>
              <a:rPr lang="zh-CN" altLang="en-US" sz="4100" spc="-1" dirty="0">
                <a:solidFill>
                  <a:srgbClr val="000000"/>
                </a:solidFill>
              </a:rPr>
              <a:t> </a:t>
            </a:r>
            <a:r>
              <a:rPr lang="en-US" altLang="zh-CN" sz="4100" spc="-1" dirty="0" err="1">
                <a:solidFill>
                  <a:srgbClr val="000000"/>
                </a:solidFill>
              </a:rPr>
              <a:t>Jiangchuan</a:t>
            </a:r>
            <a:r>
              <a:rPr lang="en-US" altLang="zh-CN" sz="4100" spc="-1" dirty="0">
                <a:solidFill>
                  <a:srgbClr val="000000"/>
                </a:solidFill>
              </a:rPr>
              <a:t> Shang, Minjun Zhong</a:t>
            </a:r>
            <a:endParaRPr lang="en-US" sz="4100" spc="-1" dirty="0">
              <a:solidFill>
                <a:srgbClr val="000000"/>
              </a:solidFill>
            </a:endParaRPr>
          </a:p>
          <a:p>
            <a:pPr algn="ctr">
              <a:spcAft>
                <a:spcPts val="600"/>
              </a:spcAft>
            </a:pPr>
            <a:endParaRPr lang="en-US" sz="4100" b="0" strike="noStrike" spc="-1" dirty="0">
              <a:solidFill>
                <a:srgbClr val="000000"/>
              </a:solidFill>
              <a:ea typeface="DejaVu Sans"/>
            </a:endParaRPr>
          </a:p>
        </p:txBody>
      </p:sp>
      <p:sp>
        <p:nvSpPr>
          <p:cNvPr id="53" name="CustomShape 9"/>
          <p:cNvSpPr/>
          <p:nvPr/>
        </p:nvSpPr>
        <p:spPr>
          <a:xfrm>
            <a:off x="63360" y="-639720"/>
            <a:ext cx="3700440" cy="370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181" name="CustomShape 43"/>
          <p:cNvSpPr/>
          <p:nvPr/>
        </p:nvSpPr>
        <p:spPr>
          <a:xfrm>
            <a:off x="1517017" y="30570455"/>
            <a:ext cx="28098052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chemeClr val="tx1"/>
                </a:solidFill>
                <a:latin typeface="+mj-lt"/>
              </a:rPr>
              <a:t>Results </a:t>
            </a:r>
            <a:r>
              <a:rPr lang="en-US" sz="6000" spc="-1" dirty="0">
                <a:solidFill>
                  <a:schemeClr val="tx1"/>
                </a:solidFill>
                <a:latin typeface="+mj-lt"/>
              </a:rPr>
              <a:t>for the Functional Design Part</a:t>
            </a:r>
            <a:endParaRPr lang="en-US" sz="6000" b="0" strike="noStrike" spc="-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L-Form 6"/>
          <p:cNvSpPr/>
          <p:nvPr/>
        </p:nvSpPr>
        <p:spPr>
          <a:xfrm rot="10800000" flipH="1">
            <a:off x="1440000" y="30402589"/>
            <a:ext cx="27548080" cy="11721008"/>
          </a:xfrm>
          <a:prstGeom prst="corner">
            <a:avLst>
              <a:gd name="adj1" fmla="val 63360"/>
              <a:gd name="adj2" fmla="val 136446"/>
            </a:avLst>
          </a:prstGeom>
          <a:noFill/>
          <a:ln w="127127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feld 3"/>
          <p:cNvSpPr txBox="1"/>
          <p:nvPr/>
        </p:nvSpPr>
        <p:spPr>
          <a:xfrm>
            <a:off x="1913580" y="31674014"/>
            <a:ext cx="967371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System Benchmarking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1024× Array Speedup: </a:t>
            </a:r>
            <a:r>
              <a:rPr lang="en-US" sz="3200" dirty="0"/>
              <a:t>16×16 hardware array computes in 32 cycles vs. 32,768 CPU cycles.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11× System Speedup: </a:t>
            </a:r>
            <a:r>
              <a:rPr lang="en-US" sz="3200" dirty="0"/>
              <a:t>End-to-end SoC execution (32×32 GEMM) achieved an 11.02× speedup, overcoming APB I/O bottlenecks.</a:t>
            </a:r>
          </a:p>
        </p:txBody>
      </p:sp>
      <p:sp>
        <p:nvSpPr>
          <p:cNvPr id="145" name="CustomShape 7"/>
          <p:cNvSpPr/>
          <p:nvPr/>
        </p:nvSpPr>
        <p:spPr>
          <a:xfrm>
            <a:off x="1440000" y="17576337"/>
            <a:ext cx="27505080" cy="12260026"/>
          </a:xfrm>
          <a:prstGeom prst="rect">
            <a:avLst/>
          </a:prstGeom>
          <a:noFill/>
          <a:ln w="127080">
            <a:solidFill>
              <a:srgbClr val="3070B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146" name="CustomShape 43"/>
          <p:cNvSpPr/>
          <p:nvPr/>
        </p:nvSpPr>
        <p:spPr>
          <a:xfrm>
            <a:off x="1440000" y="17783168"/>
            <a:ext cx="2750508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chemeClr val="tx1"/>
                </a:solidFill>
                <a:latin typeface="+mj-lt"/>
              </a:rPr>
              <a:t>Implementation Details</a:t>
            </a:r>
          </a:p>
        </p:txBody>
      </p:sp>
      <p:sp>
        <p:nvSpPr>
          <p:cNvPr id="51" name="CustomShape 7"/>
          <p:cNvSpPr/>
          <p:nvPr/>
        </p:nvSpPr>
        <p:spPr>
          <a:xfrm>
            <a:off x="1440000" y="6013549"/>
            <a:ext cx="13411440" cy="10851250"/>
          </a:xfrm>
          <a:prstGeom prst="rect">
            <a:avLst/>
          </a:prstGeom>
          <a:noFill/>
          <a:ln w="127080">
            <a:solidFill>
              <a:srgbClr val="3070B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0" name="CustomShape 43"/>
          <p:cNvSpPr/>
          <p:nvPr/>
        </p:nvSpPr>
        <p:spPr>
          <a:xfrm>
            <a:off x="1440000" y="6071719"/>
            <a:ext cx="1341144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spc="-1" dirty="0">
                <a:solidFill>
                  <a:schemeClr val="tx1"/>
                </a:solidFill>
                <a:latin typeface="+mj-lt"/>
              </a:rPr>
              <a:t>Task</a:t>
            </a:r>
            <a:r>
              <a:rPr lang="en-US" altLang="zh-CN" sz="6000" spc="-1" dirty="0">
                <a:solidFill>
                  <a:schemeClr val="tx1"/>
                </a:solidFill>
              </a:rPr>
              <a:t> &amp; </a:t>
            </a:r>
            <a:r>
              <a:rPr lang="en-US" sz="6000" spc="-1" dirty="0">
                <a:solidFill>
                  <a:schemeClr val="tx1"/>
                </a:solidFill>
                <a:latin typeface="+mj-lt"/>
              </a:rPr>
              <a:t>Specification</a:t>
            </a:r>
            <a:endParaRPr lang="en-US" sz="6000" b="0" strike="noStrike" spc="-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6" name="CustomShape 112"/>
          <p:cNvSpPr/>
          <p:nvPr/>
        </p:nvSpPr>
        <p:spPr>
          <a:xfrm>
            <a:off x="15533640" y="6013549"/>
            <a:ext cx="13411440" cy="10851251"/>
          </a:xfrm>
          <a:prstGeom prst="rect">
            <a:avLst/>
          </a:prstGeom>
          <a:noFill/>
          <a:ln w="127080">
            <a:solidFill>
              <a:srgbClr val="3070B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167" name="CustomShape 113"/>
          <p:cNvSpPr/>
          <p:nvPr/>
        </p:nvSpPr>
        <p:spPr>
          <a:xfrm>
            <a:off x="15533640" y="6084939"/>
            <a:ext cx="1341144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spc="-1" dirty="0">
                <a:solidFill>
                  <a:schemeClr val="tx1"/>
                </a:solidFill>
                <a:latin typeface="+mj-lt"/>
                <a:ea typeface="DejaVu Sans"/>
              </a:rPr>
              <a:t>Challenges &amp; State of the Art</a:t>
            </a:r>
            <a:endParaRPr lang="en-US" sz="6000" b="0" strike="noStrike" spc="-1" dirty="0">
              <a:solidFill>
                <a:schemeClr val="tx1"/>
              </a:solidFill>
              <a:latin typeface="+mj-lt"/>
              <a:ea typeface="DejaVu Sans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10970639" y="8570091"/>
            <a:ext cx="3900670" cy="3856780"/>
          </a:xfrm>
          <a:prstGeom prst="rect">
            <a:avLst/>
          </a:prstGeom>
          <a:noFill/>
        </p:spPr>
        <p:txBody>
          <a:bodyPr wrap="square" rIns="360000" bIns="360000" rtlCol="0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b="1" dirty="0"/>
              <a:t>Objective: </a:t>
            </a:r>
            <a:r>
              <a:rPr lang="en-US" sz="3200" dirty="0"/>
              <a:t>Hardware-accelerated GEMM IP for the RISC-V Edu4Chip </a:t>
            </a:r>
            <a:r>
              <a:rPr lang="en-US" sz="3200" dirty="0" err="1"/>
              <a:t>SoC.</a:t>
            </a:r>
            <a:endParaRPr lang="en-US" sz="3200" dirty="0"/>
          </a:p>
        </p:txBody>
      </p:sp>
      <p:sp>
        <p:nvSpPr>
          <p:cNvPr id="413" name="Textfeld 412"/>
          <p:cNvSpPr txBox="1"/>
          <p:nvPr/>
        </p:nvSpPr>
        <p:spPr>
          <a:xfrm>
            <a:off x="15553509" y="7810685"/>
            <a:ext cx="13434571" cy="8113669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/>
              <a:t>I/O Bottleneck: </a:t>
            </a:r>
            <a:r>
              <a:rPr lang="en-US" sz="3200" dirty="0"/>
              <a:t>Strict APB handshaking causes severe FSM stalls and CPU polling overhead during SoC integration.</a:t>
            </a:r>
          </a:p>
          <a:p>
            <a:endParaRPr lang="en-US" sz="3200" b="1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/>
              <a:t>FPGA Limits: </a:t>
            </a:r>
            <a:r>
              <a:rPr lang="en-US" sz="3200" dirty="0"/>
              <a:t>A full 16×16 array exhausts routing and logic resources on educational boards (Arty A7).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/>
              <a:t>Our Solution: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Double-Buffered Registers: 2-Bank decoupled architecture eliminated APB race conditions, slashing CPU polling by 97% (2.5× HW Speedup).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16×16 FPGA Deployment: Successfully mapped the full 16×16 array to Arty A7 (82% LUT, 100% DSP, zero timing errors) via smart slot-stubbing.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1616460" y="25912832"/>
            <a:ext cx="13597580" cy="3231654"/>
          </a:xfrm>
          <a:prstGeom prst="rect">
            <a:avLst/>
          </a:prstGeom>
          <a:noFill/>
        </p:spPr>
        <p:txBody>
          <a:bodyPr wrap="square" lIns="144000" rIns="144000" rtlCol="0">
            <a:spAutoFit/>
          </a:bodyPr>
          <a:lstStyle/>
          <a:p>
            <a:pPr algn="ctr"/>
            <a:r>
              <a:rPr lang="en-US" sz="4400" b="1" dirty="0"/>
              <a:t>System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Memory-Mapped APB: </a:t>
            </a:r>
            <a:r>
              <a:rPr lang="en-US" sz="3200" dirty="0"/>
              <a:t>Decoupled interface to the RISC-V Ibex CPU.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Double-Buffered SRAMs: </a:t>
            </a:r>
            <a:r>
              <a:rPr lang="en-US" sz="3200" dirty="0"/>
              <a:t>2-Bank decoupled A/B buffers to eliminate APB stalls.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Control FSM: </a:t>
            </a:r>
            <a:r>
              <a:rPr lang="en-US" sz="3200" dirty="0"/>
              <a:t>Orchestrates strict valid/ready data streaming.</a:t>
            </a:r>
          </a:p>
        </p:txBody>
      </p:sp>
      <p:sp>
        <p:nvSpPr>
          <p:cNvPr id="11" name="Rechteck 10"/>
          <p:cNvSpPr/>
          <p:nvPr/>
        </p:nvSpPr>
        <p:spPr>
          <a:xfrm>
            <a:off x="18031016" y="38347547"/>
            <a:ext cx="10914066" cy="3776054"/>
          </a:xfrm>
          <a:prstGeom prst="rect">
            <a:avLst/>
          </a:prstGeom>
          <a:ln w="127127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0" rIns="360000" bIns="360000" rtlCol="0" anchor="b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3600" dirty="0"/>
          </a:p>
          <a:p>
            <a:pPr algn="ctr"/>
            <a:endParaRPr lang="en-US" sz="2800" dirty="0"/>
          </a:p>
        </p:txBody>
      </p:sp>
      <p:sp>
        <p:nvSpPr>
          <p:cNvPr id="2" name="Textfeld 1"/>
          <p:cNvSpPr txBox="1"/>
          <p:nvPr/>
        </p:nvSpPr>
        <p:spPr>
          <a:xfrm>
            <a:off x="18197733" y="38484173"/>
            <a:ext cx="10580631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Repository: </a:t>
            </a:r>
            <a:r>
              <a:rPr lang="en-US" sz="2800" dirty="0"/>
              <a:t>gitlab.lrz.de/ai-pro-</a:t>
            </a:r>
            <a:r>
              <a:rPr lang="en-US" sz="2800" dirty="0" err="1"/>
              <a:t>msmcd</a:t>
            </a:r>
            <a:r>
              <a:rPr lang="en-US" sz="2800" dirty="0"/>
              <a:t>-labs/2025/</a:t>
            </a:r>
            <a:r>
              <a:rPr lang="en-US" sz="2800" dirty="0" err="1"/>
              <a:t>os</a:t>
            </a:r>
            <a:r>
              <a:rPr lang="en-US" sz="2800" dirty="0"/>
              <a:t>/group5</a:t>
            </a:r>
          </a:p>
          <a:p>
            <a:r>
              <a:rPr lang="en-US" sz="2800" b="1" dirty="0"/>
              <a:t>Course: </a:t>
            </a:r>
            <a:r>
              <a:rPr lang="en-US" sz="2800" dirty="0"/>
              <a:t>AI-PRO MSMCD Labs 2025, TUM</a:t>
            </a:r>
          </a:p>
          <a:p>
            <a:endParaRPr lang="en-US" sz="2800" dirty="0"/>
          </a:p>
          <a:p>
            <a:r>
              <a:rPr lang="en-US" sz="2800" dirty="0"/>
              <a:t>Built on the open-source Edu4Chip Didactic SoC (Ibex RISC-V core). Thanks to the course instructors and the Didactic-SoC/Ibex maintainers.</a:t>
            </a:r>
          </a:p>
          <a:p>
            <a:endParaRPr lang="en-US" sz="2800" dirty="0"/>
          </a:p>
          <a:p>
            <a:r>
              <a:rPr lang="en-US" sz="2400" dirty="0"/>
              <a:t>*Corresponding author. Email address: hengsheng.li@tum.de (H. Li).</a:t>
            </a:r>
          </a:p>
          <a:p>
            <a:endParaRPr 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96E9D8-2FAF-D85F-63A3-4F8566CCC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599" y="1559441"/>
            <a:ext cx="2771006" cy="2771006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9512016C-2107-B50A-0101-1B94A071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1481" y="7110799"/>
            <a:ext cx="10388071" cy="7090583"/>
          </a:xfrm>
          <a:prstGeom prst="rect">
            <a:avLst/>
          </a:prstGeom>
        </p:spPr>
      </p:pic>
      <p:sp>
        <p:nvSpPr>
          <p:cNvPr id="17" name="Textfeld 412">
            <a:extLst>
              <a:ext uri="{FF2B5EF4-FFF2-40B4-BE49-F238E27FC236}">
                <a16:creationId xmlns:a16="http://schemas.microsoft.com/office/drawing/2014/main" id="{102B5528-3D44-39A5-9ACC-033AEE708800}"/>
              </a:ext>
            </a:extLst>
          </p:cNvPr>
          <p:cNvSpPr txBox="1"/>
          <p:nvPr/>
        </p:nvSpPr>
        <p:spPr>
          <a:xfrm>
            <a:off x="1537679" y="13557512"/>
            <a:ext cx="13709558" cy="3189244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/>
              <a:t>Specification: </a:t>
            </a:r>
            <a:r>
              <a:rPr lang="en-US" sz="3200" dirty="0"/>
              <a:t>INT8 signed inputs, 32-bit accumulation, 16×16 PE grid.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/>
              <a:t>Dataflow Concept </a:t>
            </a:r>
            <a:r>
              <a:rPr lang="en-US" sz="3200" dirty="0"/>
              <a:t>(See Diagram):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Matrices A &amp; B stream orthogonally. Partial sums remain stationary, eliminating redundant data movement.</a:t>
            </a:r>
          </a:p>
        </p:txBody>
      </p:sp>
      <p:pic>
        <p:nvPicPr>
          <p:cNvPr id="20" name="图形 19">
            <a:extLst>
              <a:ext uri="{FF2B5EF4-FFF2-40B4-BE49-F238E27FC236}">
                <a16:creationId xmlns:a16="http://schemas.microsoft.com/office/drawing/2014/main" id="{C30C7BC8-D17E-F3DF-00FF-B0736A5BE1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7017" y="18527998"/>
            <a:ext cx="13515723" cy="7384830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B32984B3-5D04-C091-4F1E-9A1EA5651B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104100" y="20999314"/>
            <a:ext cx="9609282" cy="9030035"/>
          </a:xfrm>
          <a:prstGeom prst="rect">
            <a:avLst/>
          </a:prstGeom>
        </p:spPr>
      </p:pic>
      <p:sp>
        <p:nvSpPr>
          <p:cNvPr id="26" name="Textfeld 24">
            <a:extLst>
              <a:ext uri="{FF2B5EF4-FFF2-40B4-BE49-F238E27FC236}">
                <a16:creationId xmlns:a16="http://schemas.microsoft.com/office/drawing/2014/main" id="{8A2B5F91-6856-5A96-0CFC-20CF51CB0BD6}"/>
              </a:ext>
            </a:extLst>
          </p:cNvPr>
          <p:cNvSpPr txBox="1"/>
          <p:nvPr/>
        </p:nvSpPr>
        <p:spPr>
          <a:xfrm>
            <a:off x="15032740" y="18712011"/>
            <a:ext cx="13515723" cy="2246769"/>
          </a:xfrm>
          <a:prstGeom prst="rect">
            <a:avLst/>
          </a:prstGeom>
          <a:noFill/>
        </p:spPr>
        <p:txBody>
          <a:bodyPr wrap="square" lIns="144000" rIns="144000" rtlCol="0">
            <a:spAutoFit/>
          </a:bodyPr>
          <a:lstStyle/>
          <a:p>
            <a:pPr algn="ctr"/>
            <a:r>
              <a:rPr lang="en-US" sz="4400" b="1" dirty="0"/>
              <a:t> RTL Implementation &amp; Methodology</a:t>
            </a:r>
          </a:p>
          <a:p>
            <a:pPr algn="ctr"/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Data Skewing: </a:t>
            </a:r>
            <a:r>
              <a:rPr lang="en-US" sz="3200" dirty="0"/>
              <a:t>Diagonal streaming ensures synchronous PE accumulation.</a:t>
            </a:r>
          </a:p>
        </p:txBody>
      </p:sp>
      <p:sp>
        <p:nvSpPr>
          <p:cNvPr id="27" name="Textfeld 24">
            <a:extLst>
              <a:ext uri="{FF2B5EF4-FFF2-40B4-BE49-F238E27FC236}">
                <a16:creationId xmlns:a16="http://schemas.microsoft.com/office/drawing/2014/main" id="{BAD1CF17-7022-8B64-7757-D2EE9CAE9FAB}"/>
              </a:ext>
            </a:extLst>
          </p:cNvPr>
          <p:cNvSpPr txBox="1"/>
          <p:nvPr/>
        </p:nvSpPr>
        <p:spPr>
          <a:xfrm>
            <a:off x="15032740" y="21132135"/>
            <a:ext cx="7498464" cy="7478970"/>
          </a:xfrm>
          <a:prstGeom prst="rect">
            <a:avLst/>
          </a:prstGeom>
          <a:noFill/>
        </p:spPr>
        <p:txBody>
          <a:bodyPr wrap="square" lIns="144000" rIns="144000" rtlCol="0">
            <a:spAutoFit/>
          </a:bodyPr>
          <a:lstStyle/>
          <a:p>
            <a:r>
              <a:rPr lang="en-US" sz="3200" b="1" dirty="0"/>
              <a:t>Scalable RTL Design: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Parameterized </a:t>
            </a:r>
            <a:r>
              <a:rPr lang="en-US" sz="3200" dirty="0" err="1"/>
              <a:t>SystemVerilog</a:t>
            </a:r>
            <a:r>
              <a:rPr lang="en-US" sz="3200" dirty="0"/>
              <a:t> with stall-safe valid/ready handshakes.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r>
              <a:rPr lang="en-US" sz="3200" b="1" dirty="0"/>
              <a:t>Verification Pyramid: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Formal Proofs: </a:t>
            </a:r>
            <a:r>
              <a:rPr lang="en-US" sz="3200" dirty="0" err="1"/>
              <a:t>SymbiYosys</a:t>
            </a:r>
            <a:r>
              <a:rPr lang="en-US" sz="3200" dirty="0"/>
              <a:t> mathematical verification for FSM &amp; 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Cross-Simulator: </a:t>
            </a:r>
            <a:r>
              <a:rPr lang="en-US" sz="3200" dirty="0"/>
              <a:t>Fast </a:t>
            </a:r>
            <a:r>
              <a:rPr lang="en-US" sz="3200" dirty="0" err="1"/>
              <a:t>Cocotb+Verilator</a:t>
            </a:r>
            <a:r>
              <a:rPr lang="en-US" sz="3200" dirty="0"/>
              <a:t> (2-state) &amp; rigorous UVM </a:t>
            </a:r>
            <a:r>
              <a:rPr lang="en-US" sz="3200" dirty="0" err="1"/>
              <a:t>QuestaSim</a:t>
            </a:r>
            <a:r>
              <a:rPr lang="en-US" sz="3200" dirty="0"/>
              <a:t> (4-state).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CPU-in-Loop: </a:t>
            </a:r>
            <a:r>
              <a:rPr lang="en-US" sz="3200" dirty="0"/>
              <a:t>Bit-exact C golden models executing on the Ibex core.</a:t>
            </a:r>
          </a:p>
        </p:txBody>
      </p:sp>
      <p:sp>
        <p:nvSpPr>
          <p:cNvPr id="28" name="Textfeld 3">
            <a:extLst>
              <a:ext uri="{FF2B5EF4-FFF2-40B4-BE49-F238E27FC236}">
                <a16:creationId xmlns:a16="http://schemas.microsoft.com/office/drawing/2014/main" id="{851692A2-E849-4676-D771-93C75AF38476}"/>
              </a:ext>
            </a:extLst>
          </p:cNvPr>
          <p:cNvSpPr txBox="1"/>
          <p:nvPr/>
        </p:nvSpPr>
        <p:spPr>
          <a:xfrm>
            <a:off x="10970639" y="36602230"/>
            <a:ext cx="628177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FPGA Prototyping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16×16 on Arty A7:</a:t>
            </a:r>
            <a:r>
              <a:rPr lang="en-US" sz="3200" dirty="0"/>
              <a:t> Fully deployed the 256-PE array by stubbing unused SoC slots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Resource &amp; Timing: </a:t>
            </a:r>
            <a:r>
              <a:rPr lang="en-US" sz="3200" dirty="0"/>
              <a:t>Pushed physical limits (100% DSP, 82% LUT) with zero placement errors (WNS +0.438ns).</a:t>
            </a:r>
          </a:p>
        </p:txBody>
      </p:sp>
      <p:sp>
        <p:nvSpPr>
          <p:cNvPr id="31" name="Textfeld 3">
            <a:extLst>
              <a:ext uri="{FF2B5EF4-FFF2-40B4-BE49-F238E27FC236}">
                <a16:creationId xmlns:a16="http://schemas.microsoft.com/office/drawing/2014/main" id="{89120FE8-1393-32F2-47BF-6EC95EF35890}"/>
              </a:ext>
            </a:extLst>
          </p:cNvPr>
          <p:cNvSpPr txBox="1"/>
          <p:nvPr/>
        </p:nvSpPr>
        <p:spPr>
          <a:xfrm>
            <a:off x="17154690" y="32517810"/>
            <a:ext cx="74699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ASIC Synthesis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..</a:t>
            </a:r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..</a:t>
            </a:r>
            <a:endParaRPr lang="en-US" sz="3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C3D94F-54CA-E76B-1E3E-0D9D1557AE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6459" y="36561905"/>
            <a:ext cx="9400307" cy="5014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460</Words>
  <Application>Microsoft Office PowerPoint</Application>
  <PresentationFormat>自定义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Symbol</vt:lpstr>
      <vt:lpstr>Times New Roman</vt:lpstr>
      <vt:lpstr>DejaVu Sans</vt:lpstr>
      <vt:lpstr>Arial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Tebelmann</dc:creator>
  <dc:description/>
  <cp:lastModifiedBy>Yuzhi Cao</cp:lastModifiedBy>
  <cp:revision>315</cp:revision>
  <cp:lastPrinted>2018-10-26T14:48:15Z</cp:lastPrinted>
  <dcterms:created xsi:type="dcterms:W3CDTF">2013-07-18T15:29:20Z</dcterms:created>
  <dcterms:modified xsi:type="dcterms:W3CDTF">2026-07-10T11:12:53Z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Benutzerdefiniert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</vt:i4>
  </property>
</Properties>
</file>